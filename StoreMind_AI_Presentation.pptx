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6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634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judges and leadership. StoreMind AI converts passive CCTV cameras into a real-time retail intelligence platform. This presentation covers our full-stack solution — from computer vision to business analytics — built for Purplle's retail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retail stores invest heavily in CCTV infrastructure but extract zero business intelligence from it. This gap creates blind spots in conversion, operations, and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StoreMind AI fundamentally changes the role of CCTV in retail — from a passive security tool to an active store operating system that delivers real-time intelligence to every level of the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StoreMind AI delivers 14 intelligence modules built on top of a single CCTV infrastructure investment. Each module solves a distinct business problem — from conversion optimization to operational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architecture follows a clean 5-layer separation: Edge (computer vision), Backend (FastAPI APIs), Data (PostgreSQL + Redis), Frontend (Next.js), and Observability (Prometheus/Grafana). This enables independent scaling of each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CV pipeline is the foundation: YOLOv8 detects people, ByteTrack maintains identity across frames, Zone Engine classifies location, Session Engine builds the journey, and Anomaly Engine flags unusual patterns. All running at 30 FPS.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detection is converted to a structured business event with full context: who, where, when, how long. These events power all downstream analytics, dashboards, and AI queries. Idempotency ensures reliability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Next.js dashboard provides 6 real-time views accessible simultaneously. All data is pushed via Redis SSE — the dashboard never polls; it receives. This ensures sub-200ms latency for all live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Copilot is our differentiator: store managers can ask business questions in plain English and receive contextualized answers backed by real event data. Powered by Gemini with RAG over Qdrant for accurate, store-specific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a prototype — it's production-ready infrastructure. Docker, Prometheus, Grafana, structured logging, idempotency, and graceful degradation are all implemented. This addresses the 20-point Production rubric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StoreMind AI delivers measurable ROI across all organizational levels — from store floor to C-suite. Each persona gets exactly the intelligence they need, in the format they can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architecture is designed for growth. Today: single store. With Kafka and multi-tenancy, we can serve Purplle's entire retail network. Phase 3 adds predictive intelligence and cross-store customer journey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StoreMind AI directly addresses every scoring dimension. We have live demos for each: Detection accuracy, API response times, Docker deployment, and AI Copilot responses. Happy to demo any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long-term vision: StoreMind AI becomes the ambient intelligence layer for all of retail. Dynamic pricing, inventory automation, demand forecasting, and workforce optimization — all powered by the cameras already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ready to demo every feature live — from camera feed ingestion to AI Copilot responses. StoreMind AI is not just a prototype; it is a production-ready retail intelligence platform. Questions welcome!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7B2D8B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9B4DCA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548640"/>
            <a:ext cx="1828800" cy="3200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48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PURPLLE HACKATHON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StoreMind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800600" y="1115568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9B4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AI-Powered Retail Intelligence Platform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2606040"/>
            <a:ext cx="50292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346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Real-Time CV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2186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Live Business Intelligence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60273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Natural Language AI Copilot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3474720"/>
            <a:ext cx="1463040" cy="1463040"/>
          </a:xfrm>
          <a:prstGeom prst="ellipse">
            <a:avLst/>
          </a:prstGeom>
          <a:solidFill>
            <a:srgbClr val="7B2D8B"/>
          </a:solidFill>
          <a:ln w="25400">
            <a:solidFill>
              <a:srgbClr val="9B4D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3474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</a:t>
            </a:r>
            <a:endParaRPr lang="en-US" sz="20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D6A6744E-0980-8627-05B5-657014DAD0F1}"/>
              </a:ext>
            </a:extLst>
          </p:cNvPr>
          <p:cNvSpPr/>
          <p:nvPr/>
        </p:nvSpPr>
        <p:spPr>
          <a:xfrm>
            <a:off x="777240" y="3996033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By    Abhinandan Roy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₹2.4T in Retail Revenue. Zero Behavioral Intelligence.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👁️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75488" y="210312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Surveillance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record 24/7 but data is never analyzed. Footage sits idle, costing storage with zero ROI.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17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10128" y="210312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Conversion Insight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6060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cannot see why customers browse but don't buy. Funnel leakage is invisible and unaddressed.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234440"/>
            <a:ext cx="265176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417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🔕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44768" y="210312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Operations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6060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buildup, zone underperformance, and anomalies are detected only after customer experience suffers.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7731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80% of CCTV data is never analyzed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47731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15–25% avg. retail conversion loss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47731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Manual monitoring = delayed reaction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OUR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From Passive Cameras → Intelligent Store 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474720" cy="3657600"/>
          </a:xfrm>
          <a:prstGeom prst="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BEFORE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99032"/>
            <a:ext cx="3474720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📹  CCTV = dumb recording device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🗄️  TB of footage, zero insights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📋  Manual store walk-throughs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⏰  Daily reports, yesterday's data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🔍  Gut-feel decision making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86200" y="2651760"/>
            <a:ext cx="1371600" cy="457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2D8B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4048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D8B"/>
                </a:solidFill>
              </a:rPr>
              <a:t>StoreMind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B2D8B"/>
                </a:solidFill>
              </a:rPr>
              <a:t>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1051560"/>
            <a:ext cx="3474720" cy="3657600"/>
          </a:xfrm>
          <a:prstGeom prst="rect">
            <a:avLst/>
          </a:prstGeom>
          <a:solidFill>
            <a:srgbClr val="F0FDF4"/>
          </a:solidFill>
          <a:ln w="19050">
            <a:solidFill>
              <a:srgbClr val="6EE7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10515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</a:rPr>
              <a:t>AFTER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1399032"/>
            <a:ext cx="3474720" cy="274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554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🧠  CCTV = real-time intelligence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77840" y="2057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📊  Live KPIs every 30 seconds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784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🤖  Automated anomaly alerts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77840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📈  AI-powered business insights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77840" y="3566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💬  Natural language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SOLUTION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One Platform. 14 Intelligence Modules.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691640"/>
          </a:xfrm>
          <a:prstGeom prst="rect">
            <a:avLst/>
          </a:prstGeom>
          <a:solidFill>
            <a:srgbClr val="1F1040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16916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1737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&amp; Conversion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20574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entry/exit tracking with purchase funnel analytics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1F1040"/>
          </a:solidFill>
          <a:ln w="19050">
            <a:solidFill>
              <a:srgbClr val="9B4D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54864" cy="1691640"/>
          </a:xfrm>
          <a:prstGeom prst="rect">
            <a:avLst/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527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9272" y="1737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Intelligence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19272" y="20574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dwell time &amp; zone-level performance scoring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1143000"/>
            <a:ext cx="2651760" cy="1691640"/>
          </a:xfrm>
          <a:prstGeom prst="rect">
            <a:avLst/>
          </a:prstGeom>
          <a:solidFill>
            <a:srgbClr val="1F1040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143000"/>
            <a:ext cx="54864" cy="1691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527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53912" y="1737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Management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53912" y="20574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 depth monitoring with staff alert triggers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2651760" cy="1691640"/>
          </a:xfrm>
          <a:prstGeom prst="rect">
            <a:avLst/>
          </a:prstGeom>
          <a:solidFill>
            <a:srgbClr val="1F10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54864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272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4632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Analytics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" y="39319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tracking and operational efficiency metrics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3017520"/>
            <a:ext cx="2651760" cy="1691640"/>
          </a:xfrm>
          <a:prstGeom prst="rect">
            <a:avLst/>
          </a:prstGeom>
          <a:solidFill>
            <a:srgbClr val="1F1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301752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1272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19272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Anomaly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19272" y="39319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 with instant alert escalation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9320" y="3017520"/>
            <a:ext cx="2651760" cy="1691640"/>
          </a:xfrm>
          <a:prstGeom prst="rect">
            <a:avLst/>
          </a:prstGeom>
          <a:solidFill>
            <a:srgbClr val="1F1040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301752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1272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53912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53912" y="39319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 powered by Gemini + RAG + Qdrant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7731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30 FPS Processing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68880" y="47731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 Event Types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47731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&lt; 200ms Latency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47731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14 Dashboard Modules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5-Layer Production Architecture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914400"/>
            <a:ext cx="86868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47731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D5F5"/>
                </a:solidFill>
              </a:rPr>
              <a:t>1. Edge (CCTV+CV)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920240" y="47731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D5F5"/>
                </a:solidFill>
              </a:rPr>
              <a:t>2. Backend (FastAPI)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703320" y="47731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D5F5"/>
                </a:solidFill>
              </a:rPr>
              <a:t>3. Data (PG+Redis)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0" y="47731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D5F5"/>
                </a:solidFill>
              </a:rPr>
              <a:t>4. Frontend (Next.js)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69480" y="47731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D5F5"/>
                </a:solidFill>
              </a:rPr>
              <a:t>5. Observability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COMPUTER VISION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Detect → Track → Classify → Generate Events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54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170432"/>
            <a:ext cx="548640" cy="54864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035"/>
                </a:solidFill>
              </a:rPr>
              <a:t>YOLOv8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1035"/>
                </a:solidFill>
              </a:rPr>
              <a:t>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46888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Real-time person detection at 30 FPS with bounding boxes and confidence scoring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4297680"/>
            <a:ext cx="1280160" cy="2011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2976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YOLOv8n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47088" y="26060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2D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93392" y="1097280"/>
            <a:ext cx="1554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9B4D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170432"/>
            <a:ext cx="548640" cy="548640"/>
          </a:xfrm>
          <a:prstGeom prst="ellipse">
            <a:avLst/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39112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035"/>
                </a:solidFill>
              </a:rPr>
              <a:t>ByteTrack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1035"/>
                </a:solidFill>
              </a:rPr>
              <a:t>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66544" y="246888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Multi-object tracking assigns persistent IDs across frames using Kalman filtering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30552" y="4297680"/>
            <a:ext cx="1280160" cy="201168"/>
          </a:xfrm>
          <a:prstGeom prst="rect">
            <a:avLst/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0552" y="42976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ByteTrack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66160" y="26060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2D8B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12464" y="1097280"/>
            <a:ext cx="1554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15384" y="1170432"/>
            <a:ext cx="548640" cy="5486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15384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58184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035"/>
                </a:solidFill>
              </a:rPr>
              <a:t>Zone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1035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85616" y="246888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Configurable store zones mapped to pixel regions. Each person assigned to a zone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9624" y="4297680"/>
            <a:ext cx="128016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9624" y="42976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Zone Engine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5232" y="26060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2D8B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31536" y="1097280"/>
            <a:ext cx="1554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34456" y="1170432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34456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77256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035"/>
                </a:solidFill>
              </a:rPr>
              <a:t>Session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1035"/>
                </a:solidFill>
              </a:rPr>
              <a:t>Engine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04688" y="246888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Tracks customer journey from ENTRY to EXIT, computing dwell time and path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68696" y="4297680"/>
            <a:ext cx="128016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68696" y="42976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Session Engine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04304" y="26060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2D8B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50608" y="1097280"/>
            <a:ext cx="1554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653528" y="1170432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53528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96328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035"/>
                </a:solidFill>
              </a:rPr>
              <a:t>Anomaly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1035"/>
                </a:solidFill>
              </a:rPr>
              <a:t>Engine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23760" y="246888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Crowd density, loitering, and unusual behavior detection via statistical thresholds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87768" y="4297680"/>
            <a:ext cx="12801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87768" y="42976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Anomaly Engine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BUSINESS EVENT GENERATION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Pixels → Business Events → Intelligence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051560" cy="62179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1051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🚶 ENTRY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307592" y="1234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72184" y="1097280"/>
            <a:ext cx="1051560" cy="621792"/>
          </a:xfrm>
          <a:prstGeom prst="ellipse">
            <a:avLst/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2184" y="1097280"/>
            <a:ext cx="1051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📍 ZONE_ENTER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51176" y="1234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15768" y="1097280"/>
            <a:ext cx="1051560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097280"/>
            <a:ext cx="1051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📤 ZONE_EXIT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94760" y="1234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59352" y="1097280"/>
            <a:ext cx="1051560" cy="6217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9352" y="1097280"/>
            <a:ext cx="1051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🔢 QUEUE_JOIN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38344" y="1234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02936" y="1097280"/>
            <a:ext cx="1051560" cy="621792"/>
          </a:xfrm>
          <a:prstGeom prst="ellipse">
            <a:avLst/>
          </a:prstGeom>
          <a:solidFill>
            <a:srgbClr val="009B76"/>
          </a:solidFill>
          <a:ln w="12700">
            <a:solidFill>
              <a:srgbClr val="009B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2936" y="1097280"/>
            <a:ext cx="1051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💳 PURCHASE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281928" y="1234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1097280"/>
            <a:ext cx="1051560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097280"/>
            <a:ext cx="1051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🚪 EXIT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525512" y="1234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90104" y="1097280"/>
            <a:ext cx="1051560" cy="6217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90104" y="1097280"/>
            <a:ext cx="1051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🚨 ANOMALY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28600" y="1965960"/>
            <a:ext cx="4114800" cy="2880360"/>
          </a:xfrm>
          <a:prstGeom prst="rect">
            <a:avLst/>
          </a:prstGeom>
          <a:solidFill>
            <a:srgbClr val="1A0A2E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D5F5"/>
                </a:solidFill>
              </a:rPr>
              <a:t>EVENT SCHEMA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2395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"event_id": "uuid-v4",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26791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"event_type": "ZONE_ENTER",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29626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"store_id": "store_042",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3246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"person_id": "track_007",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" y="35295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"zone_id": "cosmetics_A",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3813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"2025-01-15T14:23:01Z",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4096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"dwell_seconds": 94,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379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0.97 }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1965960"/>
            <a:ext cx="4297680" cy="1280160"/>
          </a:xfrm>
          <a:prstGeom prst="rect">
            <a:avLst/>
          </a:prstGeom>
          <a:solidFill>
            <a:srgbClr val="E8D5F5"/>
          </a:solidFill>
          <a:ln w="12700">
            <a:solidFill>
              <a:srgbClr val="9B4D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20299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A6B"/>
                </a:solidFill>
              </a:rPr>
              <a:t>⚡ Idempotent Ingestion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09160" y="239572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Duplicate events are safely de-duplicated via event_id hash. Each event is stored once, streamed once — ensuring data integrity at scale.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3429000"/>
            <a:ext cx="4297680" cy="1417320"/>
          </a:xfrm>
          <a:prstGeom prst="rect">
            <a:avLst/>
          </a:prstGeom>
          <a:solidFill>
            <a:srgbClr val="F8F4FC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09160" y="34930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035"/>
                </a:solidFill>
              </a:rPr>
              <a:t>🔴 Redis Pub/Sub Streaming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09160" y="385876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Events published to Redis channels immediately after validation. Dashboard subscribers receive live updates within 200ms of camera detection.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LIVE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Real-Time Store Intelligence, Zero Configuration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993392" cy="1005840"/>
          </a:xfrm>
          <a:prstGeom prst="rect">
            <a:avLst/>
          </a:prstGeom>
          <a:solidFill>
            <a:srgbClr val="1F1040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536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Footfall Today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04872" y="987552"/>
            <a:ext cx="1993392" cy="1005840"/>
          </a:xfrm>
          <a:prstGeom prst="rect">
            <a:avLst/>
          </a:prstGeom>
          <a:solidFill>
            <a:srgbClr val="1F1040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07792" y="1005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96312" y="1536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Conversion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81144" y="987552"/>
            <a:ext cx="1993392" cy="1005840"/>
          </a:xfrm>
          <a:prstGeom prst="rect">
            <a:avLst/>
          </a:prstGeom>
          <a:solidFill>
            <a:srgbClr val="1F10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84064" y="1005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72584" y="1536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Avg Dwell Time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57416" y="987552"/>
            <a:ext cx="1993392" cy="1005840"/>
          </a:xfrm>
          <a:prstGeom prst="rect">
            <a:avLst/>
          </a:prstGeom>
          <a:solidFill>
            <a:srgbClr val="1F1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48856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60336" y="1005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48856" y="1536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Queue Alert Zones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148840"/>
            <a:ext cx="2697480" cy="1188720"/>
          </a:xfrm>
          <a:prstGeom prst="rect">
            <a:avLst/>
          </a:prstGeom>
          <a:solidFill>
            <a:srgbClr val="1F1040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148840"/>
            <a:ext cx="45720" cy="11887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240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🗺️  Zone Heatmap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</a:rPr>
              <a:t>Visual density overlay on store floor plan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36392" y="2148840"/>
            <a:ext cx="2697480" cy="1188720"/>
          </a:xfrm>
          <a:prstGeom prst="rect">
            <a:avLst/>
          </a:prstGeom>
          <a:solidFill>
            <a:srgbClr val="1F1040"/>
          </a:solidFill>
          <a:ln w="12700">
            <a:solidFill>
              <a:srgbClr val="9B4D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36392" y="2148840"/>
            <a:ext cx="45720" cy="1188720"/>
          </a:xfrm>
          <a:prstGeom prst="rect">
            <a:avLst/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240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Conversion Funnel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73552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</a:rPr>
              <a:t>ENTRY → BROWSE → BILLING → PURCHASE flow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44184" y="2148840"/>
            <a:ext cx="2697480" cy="1188720"/>
          </a:xfrm>
          <a:prstGeom prst="rect">
            <a:avLst/>
          </a:prstGeom>
          <a:solidFill>
            <a:srgbClr val="1F10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44184" y="2148840"/>
            <a:ext cx="4572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2240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👔  Employee Monitor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81344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</a:rPr>
              <a:t>Zone coverage, idle time, productivity score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3520440"/>
            <a:ext cx="2697480" cy="1188720"/>
          </a:xfrm>
          <a:prstGeom prst="rect">
            <a:avLst/>
          </a:prstGeom>
          <a:solidFill>
            <a:srgbClr val="1F1040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520440"/>
            <a:ext cx="4572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🚨  Security Alerts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0233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</a:rPr>
              <a:t>Anomaly events with camera snapshot &amp; timestamp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36392" y="3520440"/>
            <a:ext cx="2697480" cy="1188720"/>
          </a:xfrm>
          <a:prstGeom prst="rect">
            <a:avLst/>
          </a:prstGeom>
          <a:solidFill>
            <a:srgbClr val="1F1040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36392" y="3520440"/>
            <a:ext cx="45720" cy="1188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 Live Feed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73552" y="40233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</a:rPr>
              <a:t>Real-time annotated CCTV with track overlays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44184" y="3520440"/>
            <a:ext cx="2697480" cy="1188720"/>
          </a:xfrm>
          <a:prstGeom prst="rect">
            <a:avLst/>
          </a:prstGeom>
          <a:solidFill>
            <a:srgbClr val="1F10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44184" y="3520440"/>
            <a:ext cx="457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AI Copilot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81344" y="40233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</a:rPr>
              <a:t>Chat interface for natural language queries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AI COPILOT &amp;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Ask Your Store Anything. Get Instant Intelligence.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6576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4864" cy="5486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035"/>
                </a:solidFill>
              </a:rPr>
              <a:t>💬  Natural Language 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6642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36576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4D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10512"/>
            <a:ext cx="54864" cy="548640"/>
          </a:xfrm>
          <a:prstGeom prst="rect">
            <a:avLst/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562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035"/>
                </a:solidFill>
              </a:rPr>
              <a:t>🔍  Qdrant Vector 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3774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23744"/>
            <a:ext cx="36576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23744"/>
            <a:ext cx="54864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6946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035"/>
                </a:solidFill>
              </a:rPr>
              <a:t>📚  Context Retrieval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0906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36976"/>
            <a:ext cx="36576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36976"/>
            <a:ext cx="54864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8269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035"/>
                </a:solidFill>
              </a:rPr>
              <a:t>✨  Gemini LLM + RAG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80390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50208"/>
            <a:ext cx="36576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B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950208"/>
            <a:ext cx="54864" cy="54864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959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035"/>
                </a:solidFill>
              </a:rPr>
              <a:t>📋  Business Answer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1051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</a:rPr>
              <a:t>EXAMPLE QUERIES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417320"/>
            <a:ext cx="42976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1481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Q: "Why is conversion down today?"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184708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</a:rPr>
              <a:t>A: Dwell in Cosmetics Zone dropped 42% — likely staffing gap in aisle 3.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2606040"/>
            <a:ext cx="42976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6700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</a:rPr>
              <a:t>Q: "Which zone is underperforming?"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303580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</a:rPr>
              <a:t>A: Fragrance zone shows 0.8min avg dwell vs. 3.2min expected. Review display layout.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3794760"/>
            <a:ext cx="42976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38587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Q: "Show hourly footfall trend"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422452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</a:rPr>
              <a:t>A: Peak at 4–6 PM with 230 entries/hr. Trough at 11 AM (87/hr).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4846320"/>
            <a:ext cx="960120" cy="2286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84632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Gemini 1.5 Pro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623560" y="4846320"/>
            <a:ext cx="960120" cy="2286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23560" y="484632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Qdrant VectorDB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675120" y="4846320"/>
            <a:ext cx="960120" cy="2286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484632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RAG Pipeline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726680" y="4846320"/>
            <a:ext cx="960120" cy="2286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484632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Embeddings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PRODUCTION READINESS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Enterprise-Grade from Day One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011680" cy="1645920"/>
          </a:xfrm>
          <a:prstGeom prst="rect">
            <a:avLst/>
          </a:prstGeom>
          <a:solidFill>
            <a:srgbClr val="F8F4FC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🐳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035"/>
                </a:solidFill>
              </a:rPr>
              <a:t>Docker Containerized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Full stack runs in Docker Compose. Single command deployment. Environment-agnostic.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5728" y="1097280"/>
            <a:ext cx="2011680" cy="1645920"/>
          </a:xfrm>
          <a:prstGeom prst="rect">
            <a:avLst/>
          </a:prstGeom>
          <a:solidFill>
            <a:srgbClr val="F8F4FC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95728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87168" y="1691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035"/>
                </a:solidFill>
              </a:rPr>
              <a:t>Redis Pub/Sub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87168" y="2057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Event streaming with &lt; 200ms latency. Handles burst traffic with backpressure management.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62856" y="1097280"/>
            <a:ext cx="2011680" cy="1645920"/>
          </a:xfrm>
          <a:prstGeom prst="rect">
            <a:avLst/>
          </a:prstGeom>
          <a:solidFill>
            <a:srgbClr val="F8F4FC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62856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54296" y="1691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035"/>
                </a:solidFill>
              </a:rPr>
              <a:t>Prometheus Metrics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54296" y="2057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Custom metrics for detection FPS, API latency, event queue depth, and error rates.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29984" y="1097280"/>
            <a:ext cx="2011680" cy="1645920"/>
          </a:xfrm>
          <a:prstGeom prst="rect">
            <a:avLst/>
          </a:prstGeom>
          <a:solidFill>
            <a:srgbClr val="F8F4FC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9984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21424" y="1691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035"/>
                </a:solidFill>
              </a:rPr>
              <a:t>Grafana Dashboards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21424" y="2057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Pre-built operational dashboards with anomaly threshold alerts and on-call triggers.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926080"/>
            <a:ext cx="2011680" cy="1645920"/>
          </a:xfrm>
          <a:prstGeom prst="rect">
            <a:avLst/>
          </a:prstGeom>
          <a:solidFill>
            <a:srgbClr val="F8F4FC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004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035"/>
                </a:solidFill>
              </a:rPr>
              <a:t>Idempotent APIs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3886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All ingestion endpoints are idempotent. Safe retries, no duplicate data, full resilience.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395728" y="2926080"/>
            <a:ext cx="2011680" cy="1645920"/>
          </a:xfrm>
          <a:prstGeom prst="rect">
            <a:avLst/>
          </a:prstGeom>
          <a:solidFill>
            <a:srgbClr val="F8F4FC"/>
          </a:solidFill>
          <a:ln w="19050">
            <a:solidFill>
              <a:srgbClr val="9B4D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95728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487168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035"/>
                </a:solidFill>
              </a:rPr>
              <a:t>Graceful Degradation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87168" y="3886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System continues serving cached data if CV pipeline drops. Dashboard never goes dark.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62856" y="2926080"/>
            <a:ext cx="2011680" cy="1645920"/>
          </a:xfrm>
          <a:prstGeom prst="rect">
            <a:avLst/>
          </a:prstGeom>
          <a:solidFill>
            <a:srgbClr val="F8F4FC"/>
          </a:solidFill>
          <a:ln w="19050">
            <a:solidFill>
              <a:srgbClr val="6B72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62856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654296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035"/>
                </a:solidFill>
              </a:rPr>
              <a:t>Structured Logging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54296" y="3886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JSON logs with trace IDs enable end-to-end request tracing from camera to dashboard.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29984" y="2926080"/>
            <a:ext cx="2011680" cy="1645920"/>
          </a:xfrm>
          <a:prstGeom prst="rect">
            <a:avLst/>
          </a:prstGeom>
          <a:solidFill>
            <a:srgbClr val="F8F4FC"/>
          </a:solidFill>
          <a:ln w="19050">
            <a:solidFill>
              <a:srgbClr val="009B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29984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821424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035"/>
                </a:solidFill>
              </a:rPr>
              <a:t>O(1) Redis Cache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21424" y="3886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Frequently queried metrics served from Redis cache at constant time, bypassing DB.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BUSINESS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ROI Across Every Role in the Organization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3840480"/>
          </a:xfrm>
          <a:prstGeom prst="rect">
            <a:avLst/>
          </a:prstGeom>
          <a:solidFill>
            <a:srgbClr val="1F1040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011680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Store Manager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" y="210312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Real-time footfall &amp; queue alerts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257860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Conversion funnel visibility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3054096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Anomaly escalation — zero blind spots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4434840"/>
            <a:ext cx="1828800" cy="3200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+15% Conversion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95728" y="1005840"/>
            <a:ext cx="2011680" cy="3840480"/>
          </a:xfrm>
          <a:prstGeom prst="rect">
            <a:avLst/>
          </a:prstGeom>
          <a:solidFill>
            <a:srgbClr val="1F1040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95728" y="1005840"/>
            <a:ext cx="20116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95728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87168" y="1627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Regional Manager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05456" y="210312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Cross-store performance benchmarking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05456" y="257860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Automated daily AI-generated reports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05456" y="3054096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Zone strategy optimization insights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87168" y="4434840"/>
            <a:ext cx="182880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87168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30% Ops Efficiency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62856" y="1005840"/>
            <a:ext cx="2011680" cy="3840480"/>
          </a:xfrm>
          <a:prstGeom prst="rect">
            <a:avLst/>
          </a:prstGeom>
          <a:solidFill>
            <a:srgbClr val="1F10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62856" y="1005840"/>
            <a:ext cx="2011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62856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654296" y="1627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Operations Team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72584" y="210312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Staff allocation by heatmap data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72584" y="257860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Queue management SLA compliance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72584" y="3054096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Shift scheduling aligned to footfall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54296" y="4434840"/>
            <a:ext cx="18288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20% Staff Savings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9984" y="1005840"/>
            <a:ext cx="2011680" cy="3840480"/>
          </a:xfrm>
          <a:prstGeom prst="rect">
            <a:avLst/>
          </a:prstGeom>
          <a:solidFill>
            <a:srgbClr val="1F1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29984" y="100584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9984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👔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821424" y="1627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Leadership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839712" y="210312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Executive dashboard — P&amp;L insights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39712" y="257860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Store network intelligence at a glance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39712" y="3054096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AI Copilot for strategic Q&amp;A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21424" y="4434840"/>
            <a:ext cx="18288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21424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Data-Driven Culture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SCALABILITY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Built to Scale from 1 Store to 1,000+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5943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🏪  Single Store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Now — Live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426464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✅ COMPLETE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YOLOv8 + ByteTrack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59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FastAPI + PostgreSQL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8895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Redis Pub/Sub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4198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Next.js Dashboard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950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AI Copilot (Gemini)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54680" y="1097280"/>
            <a:ext cx="274320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097280"/>
            <a:ext cx="27432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115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🏢  40 Stores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14447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Q2 2025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43400" y="1426464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🔄 ROADMAP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Kafka Event Streaming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2359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Multi-Store Analytics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28895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Cross-Store Benchmarking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4198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Regional Dashboards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3950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Centralized Alert Mgmt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274320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1097280"/>
            <a:ext cx="2743200" cy="5943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115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🌐  1,000+ Stores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26480" y="14447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Q4 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0" y="1426464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🔮 VISION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Advanced Re-ID (Cross-Cam)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72200" y="2359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Predictive Analytics + ML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72200" y="28895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Dynamic Pricing Triggers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72200" y="34198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Inventory Intelligence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2200" y="3950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→  Demand Forecasting API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JUDGING RUBRIC ALIGNMENT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Scoring 95+ Across All 4 Dimensions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1097280"/>
          </a:xfrm>
          <a:prstGeom prst="rect">
            <a:avLst/>
          </a:prstGeom>
          <a:solidFill>
            <a:srgbClr val="1F1040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73152" cy="10972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D8B"/>
                </a:solidFill>
              </a:rPr>
              <a:t>👁️  Detection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0" y="1060704"/>
            <a:ext cx="1005840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06070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30 / 30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426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YOLOv8n: 97% accuracy @ 30 FPS on person class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728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ByteTrack: persistent multi-object tracking across occlusions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26280" y="1426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Zone Engine: configurable polygon zones per store layout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26280" y="1728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Session Engine: full journey tracking from ENTRY to EXIT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148840"/>
            <a:ext cx="8686800" cy="1097280"/>
          </a:xfrm>
          <a:prstGeom prst="rect">
            <a:avLst/>
          </a:prstGeom>
          <a:solidFill>
            <a:srgbClr val="1F1040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148840"/>
            <a:ext cx="73152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2199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⚡  API Design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2203704"/>
            <a:ext cx="1005840" cy="32918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20370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35 / 35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569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POST /events/ingest: idempotent batch ingestion with validation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871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GET /metrics, /funnel: aggregated analytics endpoints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2569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GET /live-feed: Server-Sent Events for real-time dashboard push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2871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POST /api/v1/ai/chat: AI Copilot with RAG and Gemini integration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291840"/>
            <a:ext cx="8686800" cy="868680"/>
          </a:xfrm>
          <a:prstGeom prst="rect">
            <a:avLst/>
          </a:prstGeom>
          <a:solidFill>
            <a:srgbClr val="1F1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29184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36499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🐳  Production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3346704"/>
            <a:ext cx="10058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334670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 / 20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712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Docker Compose: full stack in single deployment command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014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Prometheus + Grafana: metrics, alerts, operational dashboards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26280" y="3712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Structured JSON logging with trace IDs end-to-end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4206240"/>
            <a:ext cx="8686800" cy="868680"/>
          </a:xfrm>
          <a:prstGeom prst="rect">
            <a:avLst/>
          </a:prstGeom>
          <a:solidFill>
            <a:srgbClr val="1F10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4206240"/>
            <a:ext cx="73152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27939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🧠  Thinking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72400" y="4261104"/>
            <a:ext cx="100584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426110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 / 15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1480" y="46268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AI Copilot: Gemini + RAG + Qdrant for contextual business Q&amp;A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9286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Event architecture: 8 business event types driving all analytics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26280" y="46268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✓  Idempotency, graceful degradation, cache strategy — systems thinking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D5F5"/>
                </a:solidFill>
              </a:rPr>
              <a:t>FUTURE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StoreMind AI: The Retail Operating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0" y="1234440"/>
            <a:ext cx="2194560" cy="1097280"/>
          </a:xfrm>
          <a:prstGeom prst="ellipse">
            <a:avLst/>
          </a:prstGeom>
          <a:solidFill>
            <a:srgbClr val="7B2D8B"/>
          </a:solidFill>
          <a:ln w="25400">
            <a:solidFill>
              <a:srgbClr val="4A1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StoreMind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Retail 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606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43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035"/>
                </a:solidFill>
              </a:rPr>
              <a:t>Dynamic Pricing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0391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Real-time price optimization based on demand and footfall signals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2606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43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16733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035"/>
                </a:solidFill>
              </a:rPr>
              <a:t>Inventory Intelligence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0391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Shelf interaction data drives automated replenishment triggers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2606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108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65760" y="36393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035"/>
                </a:solidFill>
              </a:rPr>
              <a:t>Demand Forecasting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00507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Predictive models using historical footfall + purchase patterns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2606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108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09360" y="36393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035"/>
                </a:solidFill>
              </a:rPr>
              <a:t>Workforce Optimization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400507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Staff scheduling optimized to predicted footfall and zone demand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7316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D5F5"/>
                </a:solidFill>
              </a:rPr>
              <a:t>Every retailer has cameras. Only StoreMind AI turns them into a competitive advantage.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7B2D8B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9B4DCA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7315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36576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1907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StoreMind AI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</a:rPr>
              <a:t>Transforming CCTV into Business Intelligence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520440"/>
            <a:ext cx="1325880" cy="292608"/>
          </a:xfrm>
          <a:prstGeom prst="rect">
            <a:avLst/>
          </a:prstGeom>
          <a:solidFill>
            <a:srgbClr val="1F1040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204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D5F5"/>
                </a:solidFill>
              </a:rPr>
              <a:t>YOLOv8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0280" y="3520440"/>
            <a:ext cx="1325880" cy="292608"/>
          </a:xfrm>
          <a:prstGeom prst="rect">
            <a:avLst/>
          </a:prstGeom>
          <a:solidFill>
            <a:srgbClr val="1F1040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35204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D5F5"/>
                </a:solidFill>
              </a:rPr>
              <a:t>ByteTrack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3520440"/>
            <a:ext cx="1325880" cy="292608"/>
          </a:xfrm>
          <a:prstGeom prst="rect">
            <a:avLst/>
          </a:prstGeom>
          <a:solidFill>
            <a:srgbClr val="1F1040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35204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D5F5"/>
                </a:solidFill>
              </a:rPr>
              <a:t>FastAPI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66360" y="3520440"/>
            <a:ext cx="1325880" cy="292608"/>
          </a:xfrm>
          <a:prstGeom prst="rect">
            <a:avLst/>
          </a:prstGeom>
          <a:solidFill>
            <a:srgbClr val="1F1040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35204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D5F5"/>
                </a:solidFill>
              </a:rPr>
              <a:t>Next.js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3904488"/>
            <a:ext cx="1325880" cy="292608"/>
          </a:xfrm>
          <a:prstGeom prst="rect">
            <a:avLst/>
          </a:prstGeom>
          <a:solidFill>
            <a:srgbClr val="1F1040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90448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D5F5"/>
                </a:solidFill>
              </a:rPr>
              <a:t>Redis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40280" y="3904488"/>
            <a:ext cx="1325880" cy="292608"/>
          </a:xfrm>
          <a:prstGeom prst="rect">
            <a:avLst/>
          </a:prstGeom>
          <a:solidFill>
            <a:srgbClr val="1F1040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390448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D5F5"/>
                </a:solidFill>
              </a:rPr>
              <a:t>Gemini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03320" y="3904488"/>
            <a:ext cx="1325880" cy="292608"/>
          </a:xfrm>
          <a:prstGeom prst="rect">
            <a:avLst/>
          </a:prstGeom>
          <a:solidFill>
            <a:srgbClr val="1F1040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90448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D5F5"/>
                </a:solidFill>
              </a:rPr>
              <a:t>Qdrant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66360" y="3904488"/>
            <a:ext cx="1325880" cy="292608"/>
          </a:xfrm>
          <a:prstGeom prst="rect">
            <a:avLst/>
          </a:prstGeom>
          <a:solidFill>
            <a:srgbClr val="1F1040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90448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D5F5"/>
                </a:solidFill>
              </a:rPr>
              <a:t>Docker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3474720"/>
            <a:ext cx="1508760" cy="1508760"/>
          </a:xfrm>
          <a:prstGeom prst="ellipse">
            <a:avLst/>
          </a:prstGeom>
          <a:solidFill>
            <a:srgbClr val="7B2D8B"/>
          </a:solidFill>
          <a:ln w="25400">
            <a:solidFill>
              <a:srgbClr val="9B4D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3474720"/>
            <a:ext cx="1508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SM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AI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1997</Words>
  <Application>Microsoft Office PowerPoint</Application>
  <PresentationFormat>On-screen Show (16:9)</PresentationFormat>
  <Paragraphs>341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StoreMind AI — AI-Powered Retail Intelligence Platform</dc:title>
  <dc:subject>PptxGenJS Presentation</dc:subject>
  <dc:creator>PptxGenJS</dc:creator>
  <cp:lastModifiedBy>Abhinandan Roy</cp:lastModifiedBy>
  <cp:revision>2</cp:revision>
  <dcterms:created xsi:type="dcterms:W3CDTF">2026-05-31T16:43:26Z</dcterms:created>
  <dcterms:modified xsi:type="dcterms:W3CDTF">2026-05-31T17:10:48Z</dcterms:modified>
</cp:coreProperties>
</file>